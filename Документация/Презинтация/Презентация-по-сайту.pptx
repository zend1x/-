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Для перемещения страницы щёлкните мышью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05428A0-69BC-4C10-BB8A-56AC18B100E9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Num" idx="37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CBFD703-ED4E-40FB-A3B5-64E3F775D9F9}" type="slidenum">
              <a: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Num" idx="38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FA82B4-0A73-472D-A935-8721A1B79A9B}" type="slidenum">
              <a: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820C72-31ED-4B73-B9A0-F99DB7DA34E6}" type="slidenum">
              <a: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Num" idx="40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9BB0DFD-D388-4A77-9E02-638AB243AEAA}" type="slidenum">
              <a: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Num" idx="41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0FE86D-CBDB-45AE-8181-89E9E28FEC01}" type="slidenum">
              <a: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Num" idx="42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DD45EF-1317-4A2E-97EF-F4A8AF1FBFCF}" type="slidenum">
              <a: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Num" idx="43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0A32EFC-3E4B-44F1-A4C0-E47EA4467724}" type="slidenum">
              <a: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Num" idx="44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088C883-8EBF-40D6-99E7-00D6D4A52AD2}" type="slidenum">
              <a: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Num" idx="45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9F4BCD3-1CB3-4717-9D89-455654B4BE06}" type="slidenum">
              <a: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Num" idx="46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9D091D-1AE5-4F4F-8C89-3BE3B9AAE018}" type="slidenum">
              <a: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Num" idx="47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D28575A-495B-4A68-B3FF-9229703DE2C1}" type="slidenum">
              <a: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 idx="48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3EC741-475E-4126-AD57-EBF10373F637}" type="slidenum">
              <a: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Num" idx="49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0FA50B-D2A2-4BE3-923B-56B7053043DC}" type="slidenum">
              <a: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Num" idx="50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5F4304-EA49-4073-A0E9-76DC6A940A5D}" type="slidenum">
              <a:rPr b="0" lang="ru-RU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E04C00-D56E-4DE4-A713-AAF32157FE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4D0622-1D51-449B-AB46-F20A467812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35F16E2-8735-40AB-850E-994BB2C636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C5371EF-C136-44AB-8C2B-2565195C06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7184E74-F9E6-41F4-B8ED-0FDCD67BD0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5FA4CA0-D939-4B7A-BE58-E7894BFC0D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72F96B3-9D0E-48B5-A7EC-E467EA9168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30C506E-E90D-457B-97C0-CC79AD32AA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BC18CD5-25C1-42C8-A6A2-134DE27A2D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643D7B9-1BAD-4FF2-8686-629E7160C6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A6EBA49-B6F9-4258-A3E3-5FEB5F39D2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260360" y="928800"/>
            <a:ext cx="7559280" cy="197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Microsoft YaHei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27E7DB-2067-473A-8900-DD0CAA192065}" type="slidenum">
              <a: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Microsoft YaHe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Edit Master text styles</a:t>
            </a:r>
            <a:endParaRPr b="0" lang="ru-RU" sz="32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Microsoft YaHei"/>
              </a:rPr>
              <a:t>Second level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icrosoft YaHei"/>
              </a:rPr>
              <a:t>Third level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icrosoft YaHei"/>
              </a:rPr>
              <a:t>Fourth level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icrosoft YaHei"/>
              </a:rPr>
              <a:t>Fifth level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027C98-6EC2-4851-A3D0-4D11F537CC19}" type="slidenum">
              <a: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08720" y="225360"/>
            <a:ext cx="2266560" cy="438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eaVer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Microsoft YaHe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280" y="225360"/>
            <a:ext cx="6652800" cy="438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Edit Master text styles</a:t>
            </a:r>
            <a:endParaRPr b="0" lang="ru-RU" sz="32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Microsoft YaHei"/>
              </a:rPr>
              <a:t>Second level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icrosoft YaHei"/>
              </a:rPr>
              <a:t>Third level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icrosoft YaHei"/>
              </a:rPr>
              <a:t>Fourth level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icrosoft YaHei"/>
              </a:rPr>
              <a:t>Fifth level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D5127A-C3B4-4CEB-9118-9819A47E4FAD}" type="slidenum">
              <a: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Microsoft YaHe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Edit Master text styles</a:t>
            </a:r>
            <a:endParaRPr b="0" lang="ru-RU" sz="32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Microsoft YaHei"/>
              </a:rPr>
              <a:t>Second level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icrosoft YaHei"/>
              </a:rPr>
              <a:t>Third level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icrosoft YaHei"/>
              </a:rPr>
              <a:t>Fourth level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icrosoft YaHei"/>
              </a:rPr>
              <a:t>Fifth level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50D860-4CC7-4E1D-A9D9-63A783323D78}" type="slidenum">
              <a: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87240" y="1414440"/>
            <a:ext cx="8694360" cy="23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Microsoft YaHei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87240" y="3794040"/>
            <a:ext cx="8694360" cy="124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Arial"/>
                <a:ea typeface="Microsoft YaHei"/>
              </a:rPr>
              <a:t>Edit Master text styles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4F432E-484E-4DE8-AF6E-87753A92AFFF}" type="slidenum">
              <a: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Microsoft YaHe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3280" y="1327320"/>
            <a:ext cx="445896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Edit Master text styles</a:t>
            </a:r>
            <a:endParaRPr b="0" lang="ru-RU" sz="32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Microsoft YaHei"/>
              </a:rPr>
              <a:t>Second level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icrosoft YaHei"/>
              </a:rPr>
              <a:t>Third level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icrosoft YaHei"/>
              </a:rPr>
              <a:t>Fourth level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icrosoft YaHei"/>
              </a:rPr>
              <a:t>Fifth level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14880" y="1327320"/>
            <a:ext cx="446040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Edit Master text styles</a:t>
            </a:r>
            <a:endParaRPr b="0" lang="ru-RU" sz="32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Microsoft YaHei"/>
              </a:rPr>
              <a:t>Second level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icrosoft YaHei"/>
              </a:rPr>
              <a:t>Third level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icrosoft YaHei"/>
              </a:rPr>
              <a:t>Fourth level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icrosoft YaHei"/>
              </a:rPr>
              <a:t>Fifth level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851E3F-7729-455E-AC72-63A7A6024F5C}" type="slidenum">
              <a: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93720" y="301680"/>
            <a:ext cx="8694360" cy="10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Microsoft YaHe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93720" y="1390680"/>
            <a:ext cx="4265280" cy="6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Microsoft YaHei"/>
              </a:rPr>
              <a:t>Edit Master text styles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93720" y="2071800"/>
            <a:ext cx="4265280" cy="30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Edit Master text styles</a:t>
            </a:r>
            <a:endParaRPr b="0" lang="ru-RU" sz="32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Microsoft YaHei"/>
              </a:rPr>
              <a:t>Second level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icrosoft YaHei"/>
              </a:rPr>
              <a:t>Third level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icrosoft YaHei"/>
              </a:rPr>
              <a:t>Fourth level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icrosoft YaHei"/>
              </a:rPr>
              <a:t>Fifth level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5103720" y="1390680"/>
            <a:ext cx="4284360" cy="6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Microsoft YaHei"/>
              </a:rPr>
              <a:t>Edit Master text styles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5103720" y="2071800"/>
            <a:ext cx="4284360" cy="30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Edit Master text styles</a:t>
            </a:r>
            <a:endParaRPr b="0" lang="ru-RU" sz="32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Microsoft YaHei"/>
              </a:rPr>
              <a:t>Second level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icrosoft YaHei"/>
              </a:rPr>
              <a:t>Third level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icrosoft YaHei"/>
              </a:rPr>
              <a:t>Fourth level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icrosoft YaHei"/>
              </a:rPr>
              <a:t>Fifth level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7A3DC8-24F3-4BA8-9C10-16EEDDA310F9}" type="slidenum">
              <a: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Microsoft YaHe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5FA303-DE9D-48AA-8D78-B4AF57E1A10A}" type="slidenum">
              <a: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9F24A7-52DF-4B56-B5AD-5137E10C7381}" type="slidenum">
              <a: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93720" y="378000"/>
            <a:ext cx="325080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286160" y="816120"/>
            <a:ext cx="5101920" cy="403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Edit Master text styles</a:t>
            </a:r>
            <a:endParaRPr b="0" lang="ru-RU" sz="32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Microsoft YaHei"/>
              </a:rPr>
              <a:t>Second level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Microsoft YaHei"/>
              </a:rPr>
              <a:t>Third level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icrosoft YaHei"/>
              </a:rPr>
              <a:t>Fourth level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icrosoft YaHei"/>
              </a:rPr>
              <a:t>Fifth level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93720" y="1701720"/>
            <a:ext cx="3250800" cy="31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Edit Master text styles</a:t>
            </a:r>
            <a:endParaRPr b="0" lang="ru-RU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28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29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0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8EE8B1-8FC9-4934-8846-5A299A68D8D4}" type="slidenum">
              <a: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93720" y="378000"/>
            <a:ext cx="325080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286160" y="816120"/>
            <a:ext cx="5101920" cy="403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93720" y="1701720"/>
            <a:ext cx="3250800" cy="31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Edit Master text styles</a:t>
            </a:r>
            <a:endParaRPr b="0" lang="ru-RU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1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2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3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B46513-51A8-4763-B996-A1CD530C9F38}" type="slidenum">
              <a:rPr b="0" lang="ru-RU" sz="1400" spc="-1" strike="noStrike">
                <a:solidFill>
                  <a:schemeClr val="dk1"/>
                </a:solidFill>
                <a:latin typeface="Times New Roman"/>
                <a:ea typeface="Segoe UI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3ca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92640" y="631080"/>
            <a:ext cx="5311800" cy="107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2a6099"/>
                </a:solidFill>
                <a:latin typeface="Arial"/>
                <a:ea typeface="Microsoft YaHei"/>
              </a:rPr>
              <a:t>Алтайский государственный технический университет им. И.И. Ползунова Университетский технологический колледж</a:t>
            </a:r>
            <a:br>
              <a:rPr sz="1800"/>
            </a:b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rcRect l="21268" t="0" r="0" b="0"/>
          <a:stretch/>
        </p:blipFill>
        <p:spPr>
          <a:xfrm>
            <a:off x="6746040" y="10440"/>
            <a:ext cx="3333600" cy="5669280"/>
          </a:xfrm>
          <a:prstGeom prst="rect">
            <a:avLst/>
          </a:prstGeom>
          <a:ln w="0">
            <a:noFill/>
          </a:ln>
        </p:spPr>
      </p:pic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692640" y="2084040"/>
            <a:ext cx="5311800" cy="100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000" spc="-1" strike="noStrike">
                <a:solidFill>
                  <a:srgbClr val="2a6099"/>
                </a:solidFill>
                <a:latin typeface="Arial"/>
                <a:ea typeface="Microsoft YaHei"/>
              </a:rPr>
              <a:t>Кафедра «Информационные системы в экономике»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title"/>
          </p:nvPr>
        </p:nvSpPr>
        <p:spPr>
          <a:xfrm>
            <a:off x="741240" y="2915640"/>
            <a:ext cx="53118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1400" spc="-1" strike="noStrike">
                <a:solidFill>
                  <a:srgbClr val="2a6099"/>
                </a:solidFill>
                <a:latin typeface="Arial"/>
                <a:ea typeface="Microsoft YaHei"/>
              </a:rPr>
              <a:t>Разработка веб-сайта для медицинской организации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title"/>
          </p:nvPr>
        </p:nvSpPr>
        <p:spPr>
          <a:xfrm>
            <a:off x="692640" y="2084040"/>
            <a:ext cx="5311800" cy="100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000" spc="-1" strike="noStrike">
                <a:solidFill>
                  <a:srgbClr val="2a6099"/>
                </a:solidFill>
                <a:latin typeface="Arial"/>
                <a:ea typeface="Microsoft YaHei"/>
              </a:rPr>
              <a:t>Кафедра «Информационные системы в экономике»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title"/>
          </p:nvPr>
        </p:nvSpPr>
        <p:spPr>
          <a:xfrm>
            <a:off x="1020600" y="3726360"/>
            <a:ext cx="50324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1000" spc="-1" strike="noStrike">
                <a:solidFill>
                  <a:srgbClr val="2a6099"/>
                </a:solidFill>
                <a:latin typeface="Arial"/>
                <a:ea typeface="Microsoft YaHei"/>
              </a:rPr>
              <a:t>Выполнил                          Студент группы 1ИСП-21 Бобрышев Петр Денисович</a:t>
            </a:r>
            <a:endParaRPr b="0" lang="en-US" sz="10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title"/>
          </p:nvPr>
        </p:nvSpPr>
        <p:spPr>
          <a:xfrm>
            <a:off x="1020600" y="4561560"/>
            <a:ext cx="52070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1000" spc="-1" strike="noStrike">
                <a:solidFill>
                  <a:srgbClr val="2a6099"/>
                </a:solidFill>
                <a:latin typeface="Arial"/>
                <a:ea typeface="Microsoft YaHei"/>
              </a:rPr>
              <a:t>Руководитель:                  Пр. каф. ИСЭ Воробьев Константин Владимирович                                                       </a:t>
            </a:r>
            <a:endParaRPr b="0" lang="en-US" sz="10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97280" y="132480"/>
            <a:ext cx="53118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1900" spc="-1" strike="noStrike">
                <a:solidFill>
                  <a:srgbClr val="2a6099"/>
                </a:solidFill>
                <a:latin typeface="Arial"/>
                <a:ea typeface="Microsoft YaHei"/>
              </a:rPr>
              <a:t>Цель и задачи работы</a:t>
            </a:r>
            <a:br>
              <a:rPr sz="1900"/>
            </a:br>
            <a:endParaRPr b="0" lang="en-US" sz="19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rcRect l="21268" t="0" r="0" b="0"/>
          <a:stretch/>
        </p:blipFill>
        <p:spPr>
          <a:xfrm>
            <a:off x="6746040" y="10440"/>
            <a:ext cx="3333600" cy="5669280"/>
          </a:xfrm>
          <a:prstGeom prst="rect">
            <a:avLst/>
          </a:prstGeom>
          <a:ln w="0">
            <a:noFill/>
          </a:ln>
        </p:spPr>
      </p:pic>
      <p:sp>
        <p:nvSpPr>
          <p:cNvPr id="84" name="PlaceHolder 2"/>
          <p:cNvSpPr>
            <a:spLocks noGrp="1"/>
          </p:cNvSpPr>
          <p:nvPr>
            <p:ph type="title"/>
          </p:nvPr>
        </p:nvSpPr>
        <p:spPr>
          <a:xfrm>
            <a:off x="197280" y="816120"/>
            <a:ext cx="6006960" cy="423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Цель работы: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  Разработка веб-сайта медицинской организации с административной панелью для автоматизации процессов записи пациентов на приём, управления контентом и обеспечения информационного присутствия клиники в интернете.</a:t>
            </a:r>
            <a:br>
              <a:rPr sz="1500"/>
            </a:b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Задачи:</a:t>
            </a:r>
            <a:br>
              <a:rPr sz="1500"/>
            </a:b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 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Провести анализ предметной области и существующих решений в сфере медицинских веб-сайтов;</a:t>
            </a: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Спроектировать и разработать базу данных для хранения информации;</a:t>
            </a: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Определить функциональные и нефункциональные требования к системе;</a:t>
            </a: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Спроектировать пользовательский интерфейс;</a:t>
            </a: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Выбрать и обосновать технологии реализации;</a:t>
            </a: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Разработать публичную часть сайта и административную панель;</a:t>
            </a: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Провести тестирование работоспособности системы.</a:t>
            </a:r>
            <a:br>
              <a:rPr sz="1500"/>
            </a:b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0" y="5323680"/>
            <a:ext cx="30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2a6099"/>
                </a:solidFill>
                <a:latin typeface="Arial"/>
                <a:ea typeface="Microsoft YaHei"/>
              </a:rPr>
              <a:t>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97280" y="132480"/>
            <a:ext cx="53118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000" spc="-1" strike="noStrike">
                <a:solidFill>
                  <a:srgbClr val="2a6099"/>
                </a:solidFill>
                <a:latin typeface="Arial"/>
                <a:ea typeface="Microsoft YaHei"/>
              </a:rPr>
              <a:t>Актуальность</a:t>
            </a:r>
            <a:br>
              <a:rPr sz="1000"/>
            </a:br>
            <a:br>
              <a:rPr sz="1000"/>
            </a:b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rcRect l="21268" t="0" r="0" b="0"/>
          <a:stretch/>
        </p:blipFill>
        <p:spPr>
          <a:xfrm>
            <a:off x="6746040" y="10440"/>
            <a:ext cx="3333600" cy="566928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517320" y="720360"/>
            <a:ext cx="6035760" cy="165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В условиях цифровизации сайт медклиники обеспечивает информацию, сервис (запись, контакты), имидж и коммуникацию. Удобство критично: пациент чувствителен ко времени и точности данных. Плохая навигация или отсутствие мобильной адаптации снижают доверие. Функциональный сайт также снижает нагрузку на администраторов. Разработка такого сайта — актуальная и практически значимая задача.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9" name="" descr=""/>
          <p:cNvPicPr/>
          <p:nvPr/>
        </p:nvPicPr>
        <p:blipFill>
          <a:blip r:embed="rId2"/>
          <a:stretch/>
        </p:blipFill>
        <p:spPr>
          <a:xfrm>
            <a:off x="222840" y="2657160"/>
            <a:ext cx="6238800" cy="1767240"/>
          </a:xfrm>
          <a:prstGeom prst="rect">
            <a:avLst/>
          </a:prstGeom>
          <a:ln w="0">
            <a:noFill/>
          </a:ln>
        </p:spPr>
      </p:pic>
      <p:sp>
        <p:nvSpPr>
          <p:cNvPr id="90" name="TextBox 5"/>
          <p:cNvSpPr/>
          <p:nvPr/>
        </p:nvSpPr>
        <p:spPr>
          <a:xfrm>
            <a:off x="-2520" y="5323680"/>
            <a:ext cx="30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2a6099"/>
                </a:solidFill>
                <a:latin typeface="Arial"/>
                <a:ea typeface="Microsoft YaHei"/>
              </a:rPr>
              <a:t>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97280" y="132480"/>
            <a:ext cx="53118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000" spc="-1" strike="noStrike">
                <a:solidFill>
                  <a:srgbClr val="2a6099"/>
                </a:solidFill>
                <a:latin typeface="Arial"/>
                <a:ea typeface="Microsoft YaHei"/>
              </a:rPr>
              <a:t>Аналогичные решения</a:t>
            </a:r>
            <a:br>
              <a:rPr sz="1000"/>
            </a:br>
            <a:br>
              <a:rPr sz="1000"/>
            </a:b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title"/>
          </p:nvPr>
        </p:nvSpPr>
        <p:spPr>
          <a:xfrm>
            <a:off x="446040" y="974160"/>
            <a:ext cx="3942720" cy="31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Типовые проблемы существующих медицинских сайтов:</a:t>
            </a: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Нет четкого сценария: как найти врача и записаться.</a:t>
            </a: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Плохая структура услуг и специалистов (нет фильтров, категорий).</a:t>
            </a:r>
            <a:br>
              <a:rPr sz="1500"/>
            </a:b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Неактуальные данные (цены, фото, график).</a:t>
            </a: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Слабая или формальная мобильная адаптация.</a:t>
            </a:r>
            <a:br>
              <a:rPr sz="1500"/>
            </a:b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5115240" y="77760"/>
            <a:ext cx="4701240" cy="2665080"/>
          </a:xfrm>
          <a:prstGeom prst="rect">
            <a:avLst/>
          </a:prstGeom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2"/>
          <a:stretch/>
        </p:blipFill>
        <p:spPr>
          <a:xfrm>
            <a:off x="5122440" y="2838240"/>
            <a:ext cx="1229400" cy="2634480"/>
          </a:xfrm>
          <a:prstGeom prst="rect">
            <a:avLst/>
          </a:prstGeom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3"/>
          <a:stretch/>
        </p:blipFill>
        <p:spPr>
          <a:xfrm>
            <a:off x="6870240" y="2842560"/>
            <a:ext cx="1229400" cy="2633400"/>
          </a:xfrm>
          <a:prstGeom prst="rect">
            <a:avLst/>
          </a:prstGeom>
          <a:ln w="0">
            <a:noFill/>
          </a:ln>
        </p:spPr>
      </p:pic>
      <p:pic>
        <p:nvPicPr>
          <p:cNvPr id="96" name="" descr=""/>
          <p:cNvPicPr/>
          <p:nvPr/>
        </p:nvPicPr>
        <p:blipFill>
          <a:blip r:embed="rId4"/>
          <a:stretch/>
        </p:blipFill>
        <p:spPr>
          <a:xfrm>
            <a:off x="8581320" y="2851200"/>
            <a:ext cx="1229400" cy="263448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5"/>
          <a:srcRect l="14289" t="7721" r="15161" b="27015"/>
          <a:stretch/>
        </p:blipFill>
        <p:spPr>
          <a:xfrm>
            <a:off x="955080" y="4149720"/>
            <a:ext cx="3026880" cy="950040"/>
          </a:xfrm>
          <a:prstGeom prst="rect">
            <a:avLst/>
          </a:prstGeom>
          <a:ln w="0">
            <a:noFill/>
          </a:ln>
        </p:spPr>
      </p:pic>
      <p:sp>
        <p:nvSpPr>
          <p:cNvPr id="98" name="TextBox 8"/>
          <p:cNvSpPr/>
          <p:nvPr/>
        </p:nvSpPr>
        <p:spPr>
          <a:xfrm>
            <a:off x="-2520" y="5323680"/>
            <a:ext cx="30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2a6099"/>
                </a:solidFill>
                <a:latin typeface="Arial"/>
                <a:ea typeface="Microsoft YaHei"/>
              </a:rPr>
              <a:t>4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97280" y="132480"/>
            <a:ext cx="53118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000" spc="-1" strike="noStrike">
                <a:solidFill>
                  <a:srgbClr val="2a6099"/>
                </a:solidFill>
                <a:latin typeface="Arial"/>
                <a:ea typeface="Microsoft YaHei"/>
              </a:rPr>
              <a:t>Аналогичные решения</a:t>
            </a:r>
            <a:br>
              <a:rPr sz="1000"/>
            </a:br>
            <a:br>
              <a:rPr sz="1000"/>
            </a:b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527760" y="650160"/>
            <a:ext cx="5710320" cy="224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Сравнение трёх типов решений показало их ограниченность:</a:t>
            </a:r>
            <a:br>
              <a:rPr sz="1500"/>
            </a:b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корпоративные сайты перегружены, </a:t>
            </a:r>
            <a:br>
              <a:rPr sz="1500"/>
            </a:b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агрегаторы обезличены, </a:t>
            </a:r>
            <a:br>
              <a:rPr sz="1500"/>
            </a:b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лендинги слишком просты. </a:t>
            </a:r>
            <a:br>
              <a:rPr sz="1500"/>
            </a:b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Требуется единая система, объединяющая бренд, каталог услуг, карточки врачей, удобную запись и адаптивность.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1051560" y="2969640"/>
            <a:ext cx="3253680" cy="235368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6103800" y="551520"/>
            <a:ext cx="3808440" cy="216360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3"/>
          <a:stretch/>
        </p:blipFill>
        <p:spPr>
          <a:xfrm>
            <a:off x="5011560" y="2944440"/>
            <a:ext cx="4303800" cy="2445120"/>
          </a:xfrm>
          <a:prstGeom prst="rect">
            <a:avLst/>
          </a:prstGeom>
          <a:ln w="0">
            <a:noFill/>
          </a:ln>
        </p:spPr>
      </p:pic>
      <p:sp>
        <p:nvSpPr>
          <p:cNvPr id="104" name="TextBox 6"/>
          <p:cNvSpPr/>
          <p:nvPr/>
        </p:nvSpPr>
        <p:spPr>
          <a:xfrm>
            <a:off x="0" y="5323680"/>
            <a:ext cx="30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2a6099"/>
                </a:solidFill>
                <a:latin typeface="Arial"/>
                <a:ea typeface="Microsoft YaHei"/>
              </a:rPr>
              <a:t>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97280" y="132480"/>
            <a:ext cx="53118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000" spc="-1" strike="noStrike">
                <a:solidFill>
                  <a:srgbClr val="2a6099"/>
                </a:solidFill>
                <a:latin typeface="Arial"/>
                <a:ea typeface="Microsoft YaHei"/>
              </a:rPr>
              <a:t>Выбор технологий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title"/>
          </p:nvPr>
        </p:nvSpPr>
        <p:spPr>
          <a:xfrm>
            <a:off x="517320" y="575280"/>
            <a:ext cx="5710320" cy="465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Обоснован выбор технологического стека: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HTML5 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— структура страниц;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CSS3 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— адаптивный дизайн, стилизация;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JavaScript 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— интерактивность, валидация форм;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PHP 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— серверная логика, обработка запросов;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MySQL 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— реляционная база данных;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Apache 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— веб-сервер.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rcRect l="21268" t="0" r="0" b="0"/>
          <a:stretch/>
        </p:blipFill>
        <p:spPr>
          <a:xfrm>
            <a:off x="6746400" y="10800"/>
            <a:ext cx="3333600" cy="5669280"/>
          </a:xfrm>
          <a:prstGeom prst="rect">
            <a:avLst/>
          </a:prstGeom>
          <a:ln w="0">
            <a:noFill/>
          </a:ln>
        </p:spPr>
      </p:pic>
      <p:sp>
        <p:nvSpPr>
          <p:cNvPr id="108" name="TextBox 4"/>
          <p:cNvSpPr/>
          <p:nvPr/>
        </p:nvSpPr>
        <p:spPr>
          <a:xfrm>
            <a:off x="-2520" y="5323680"/>
            <a:ext cx="30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2a6099"/>
                </a:solidFill>
                <a:latin typeface="Arial"/>
                <a:ea typeface="Microsoft YaHei"/>
              </a:rPr>
              <a:t>6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97280" y="132480"/>
            <a:ext cx="53118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000" spc="-1" strike="noStrike">
                <a:solidFill>
                  <a:srgbClr val="2a6099"/>
                </a:solidFill>
                <a:latin typeface="Arial"/>
                <a:ea typeface="Microsoft YaHei"/>
              </a:rPr>
              <a:t>Требования к системе </a:t>
            </a:r>
            <a:br>
              <a:rPr sz="1000"/>
            </a:br>
            <a:br>
              <a:rPr sz="1000"/>
            </a:b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title"/>
          </p:nvPr>
        </p:nvSpPr>
        <p:spPr>
          <a:xfrm>
            <a:off x="517320" y="720360"/>
            <a:ext cx="5710320" cy="465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Функциональные требования (минимум):</a:t>
            </a:r>
            <a:br>
              <a:rPr sz="1500"/>
            </a:b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Просмотр контактов, графика работы, услуг (категории + цены), врачей (с переходом к записи)</a:t>
            </a:r>
            <a:br>
              <a:rPr sz="1500"/>
            </a:b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Форма записи на приём (с валидацией)</a:t>
            </a:r>
            <a:br>
              <a:rPr sz="1500"/>
            </a:b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Форма обратной связи</a:t>
            </a:r>
            <a:br>
              <a:rPr sz="1500"/>
            </a:b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Админ-панель: управление врачами, услугами, заявками</a:t>
            </a:r>
            <a:br>
              <a:rPr sz="1500"/>
            </a:b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Нефункциональные требования (минимум):</a:t>
            </a:r>
            <a:br>
              <a:rPr sz="1500"/>
            </a:b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Адаптивность</a:t>
            </a:r>
            <a:br>
              <a:rPr sz="1500"/>
            </a:b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Запись за 1–2 клика</a:t>
            </a:r>
            <a:br>
              <a:rPr sz="1500"/>
            </a:b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Безопасный вход в панель администратора</a:t>
            </a:r>
            <a:br>
              <a:rPr sz="1500"/>
            </a:b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	</a:t>
            </a: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-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 Возможность расширения функционала</a:t>
            </a:r>
            <a:br>
              <a:rPr sz="1000"/>
            </a:b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rcRect l="21268" t="0" r="0" b="0"/>
          <a:stretch/>
        </p:blipFill>
        <p:spPr>
          <a:xfrm>
            <a:off x="6746400" y="10800"/>
            <a:ext cx="3333600" cy="5669280"/>
          </a:xfrm>
          <a:prstGeom prst="rect">
            <a:avLst/>
          </a:prstGeom>
          <a:ln w="0">
            <a:noFill/>
          </a:ln>
        </p:spPr>
      </p:pic>
      <p:sp>
        <p:nvSpPr>
          <p:cNvPr id="112" name="TextBox 4"/>
          <p:cNvSpPr/>
          <p:nvPr/>
        </p:nvSpPr>
        <p:spPr>
          <a:xfrm>
            <a:off x="0" y="5323680"/>
            <a:ext cx="30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2a6099"/>
                </a:solidFill>
                <a:latin typeface="Arial"/>
                <a:ea typeface="Microsoft YaHei"/>
              </a:rPr>
              <a:t>7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97280" y="132480"/>
            <a:ext cx="53118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000" spc="-1" strike="noStrike">
                <a:solidFill>
                  <a:srgbClr val="2a6099"/>
                </a:solidFill>
                <a:latin typeface="Arial"/>
                <a:ea typeface="Microsoft YaHei"/>
              </a:rPr>
              <a:t>Проектирование базы данных</a:t>
            </a:r>
            <a:br>
              <a:rPr sz="1000"/>
            </a:br>
            <a:br>
              <a:rPr sz="1000"/>
            </a:b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0" y="5323680"/>
            <a:ext cx="30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2a6099"/>
                </a:solidFill>
                <a:latin typeface="Arial"/>
                <a:ea typeface="Microsoft YaHei"/>
              </a:rPr>
              <a:t>8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747360" y="676800"/>
            <a:ext cx="8584920" cy="458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97280" y="132480"/>
            <a:ext cx="53118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000" spc="-1" strike="noStrike">
                <a:solidFill>
                  <a:srgbClr val="2a6099"/>
                </a:solidFill>
                <a:latin typeface="Arial"/>
                <a:ea typeface="Microsoft YaHei"/>
              </a:rPr>
              <a:t>Разработка публичной части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title"/>
          </p:nvPr>
        </p:nvSpPr>
        <p:spPr>
          <a:xfrm>
            <a:off x="517320" y="975600"/>
            <a:ext cx="577152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Главная страница 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— баннер, преимущества, услуги, врачи, новости, кнопка записи;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18" name="Group 3"/>
          <p:cNvGrpSpPr/>
          <p:nvPr/>
        </p:nvGrpSpPr>
        <p:grpSpPr>
          <a:xfrm>
            <a:off x="798480" y="180720"/>
            <a:ext cx="8482680" cy="5315760"/>
            <a:chOff x="798480" y="180720"/>
            <a:chExt cx="8482680" cy="5315760"/>
          </a:xfrm>
        </p:grpSpPr>
        <p:pic>
          <p:nvPicPr>
            <p:cNvPr id="119" name="" descr=""/>
            <p:cNvPicPr/>
            <p:nvPr/>
          </p:nvPicPr>
          <p:blipFill>
            <a:blip r:embed="rId1"/>
            <a:srcRect l="0" t="0" r="778" b="0"/>
            <a:stretch/>
          </p:blipFill>
          <p:spPr>
            <a:xfrm>
              <a:off x="798480" y="1818720"/>
              <a:ext cx="5868000" cy="3342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0" name="" descr=""/>
            <p:cNvPicPr/>
            <p:nvPr/>
          </p:nvPicPr>
          <p:blipFill>
            <a:blip r:embed="rId2"/>
            <a:stretch/>
          </p:blipFill>
          <p:spPr>
            <a:xfrm>
              <a:off x="6846120" y="180720"/>
              <a:ext cx="2435040" cy="53157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21" name="TextBox 6"/>
          <p:cNvSpPr/>
          <p:nvPr/>
        </p:nvSpPr>
        <p:spPr>
          <a:xfrm>
            <a:off x="0" y="5323680"/>
            <a:ext cx="306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2a6099"/>
                </a:solidFill>
                <a:latin typeface="Arial"/>
                <a:ea typeface="Microsoft YaHei"/>
              </a:rPr>
              <a:t>9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97280" y="132480"/>
            <a:ext cx="53118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000" spc="-1" strike="noStrike">
                <a:solidFill>
                  <a:srgbClr val="2a6099"/>
                </a:solidFill>
                <a:latin typeface="Arial"/>
                <a:ea typeface="Microsoft YaHei"/>
              </a:rPr>
              <a:t>Разработка административная панели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title"/>
          </p:nvPr>
        </p:nvSpPr>
        <p:spPr>
          <a:xfrm>
            <a:off x="517320" y="850680"/>
            <a:ext cx="5771520" cy="18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Страница врачей 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с фильтрацией;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0" y="5323680"/>
            <a:ext cx="433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2a6099"/>
                </a:solidFill>
                <a:latin typeface="Arial"/>
                <a:ea typeface="Microsoft YaHei"/>
              </a:rPr>
              <a:t>10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203760" y="1521000"/>
            <a:ext cx="9672480" cy="358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97280" y="132480"/>
            <a:ext cx="53118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000" spc="-1" strike="noStrike">
                <a:solidFill>
                  <a:srgbClr val="2a6099"/>
                </a:solidFill>
                <a:latin typeface="Arial"/>
                <a:ea typeface="Microsoft YaHei"/>
              </a:rPr>
              <a:t>Разработка административная панели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title"/>
          </p:nvPr>
        </p:nvSpPr>
        <p:spPr>
          <a:xfrm>
            <a:off x="517320" y="850680"/>
            <a:ext cx="5771520" cy="18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Страница врачей </a:t>
            </a: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с модальным окном добавления/редактирования;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0" y="5323680"/>
            <a:ext cx="416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2a6099"/>
                </a:solidFill>
                <a:latin typeface="Arial"/>
                <a:ea typeface="Microsoft YaHei"/>
              </a:rPr>
              <a:t>11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1090800" y="1356480"/>
            <a:ext cx="7898040" cy="4126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97280" y="132480"/>
            <a:ext cx="53118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000" spc="-1" strike="noStrike">
                <a:solidFill>
                  <a:srgbClr val="2a6099"/>
                </a:solidFill>
                <a:latin typeface="Arial"/>
                <a:ea typeface="Microsoft YaHei"/>
              </a:rPr>
              <a:t>Тестирование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197280" y="765000"/>
            <a:ext cx="3434040" cy="4479840"/>
          </a:xfrm>
          <a:prstGeom prst="rect">
            <a:avLst/>
          </a:prstGeom>
          <a:ln w="0">
            <a:noFill/>
          </a:ln>
        </p:spPr>
      </p:pic>
      <p:sp>
        <p:nvSpPr>
          <p:cNvPr id="132" name="TextBox 3"/>
          <p:cNvSpPr/>
          <p:nvPr/>
        </p:nvSpPr>
        <p:spPr>
          <a:xfrm>
            <a:off x="0" y="5323680"/>
            <a:ext cx="433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2a6099"/>
                </a:solidFill>
                <a:latin typeface="Arial"/>
                <a:ea typeface="Microsoft YaHei"/>
              </a:rPr>
              <a:t>12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2"/>
          <a:srcRect l="0" t="0" r="24784" b="0"/>
          <a:stretch/>
        </p:blipFill>
        <p:spPr>
          <a:xfrm>
            <a:off x="3745080" y="1655640"/>
            <a:ext cx="6220080" cy="1110960"/>
          </a:xfrm>
          <a:prstGeom prst="rect">
            <a:avLst/>
          </a:prstGeom>
          <a:ln w="0">
            <a:noFill/>
          </a:ln>
        </p:spPr>
      </p:pic>
      <p:pic>
        <p:nvPicPr>
          <p:cNvPr id="134" name="" descr=""/>
          <p:cNvPicPr/>
          <p:nvPr/>
        </p:nvPicPr>
        <p:blipFill>
          <a:blip r:embed="rId3"/>
          <a:stretch/>
        </p:blipFill>
        <p:spPr>
          <a:xfrm>
            <a:off x="3802680" y="3489480"/>
            <a:ext cx="5919120" cy="64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97280" y="132480"/>
            <a:ext cx="53118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000" spc="-1" strike="noStrike">
                <a:solidFill>
                  <a:srgbClr val="2a6099"/>
                </a:solidFill>
                <a:latin typeface="Arial"/>
                <a:ea typeface="Microsoft YaHei"/>
              </a:rPr>
              <a:t>Заключение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title"/>
          </p:nvPr>
        </p:nvSpPr>
        <p:spPr>
          <a:xfrm>
            <a:off x="517320" y="559080"/>
            <a:ext cx="5710320" cy="511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В результате проделанной работы был разработан веб-сайт медицинской организации с административной панелью.</a:t>
            </a:r>
            <a:br>
              <a:rPr sz="1500"/>
            </a:b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Были решены следующие задачи: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2a6099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Проведен анализ предметной области и существующих решений;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2a6099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Смоделированы бизнес-процессы;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2a6099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Спроектирована и реализована база данных;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2a6099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Разработана функционально-алгоритмическая структура;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2a6099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Спроектирован пользовательский интерфейс с адаптивным дизайном;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2a6099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Разработана публичная часть сайта и административная панель;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2a6099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2a6099"/>
                </a:solidFill>
                <a:latin typeface="Arial"/>
                <a:ea typeface="Microsoft YaHei"/>
              </a:rPr>
              <a:t>Проведено тестирование работоспособности.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rcRect l="21268" t="0" r="0" b="0"/>
          <a:stretch/>
        </p:blipFill>
        <p:spPr>
          <a:xfrm>
            <a:off x="6746400" y="10800"/>
            <a:ext cx="3333600" cy="56692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4"/>
          <p:cNvSpPr/>
          <p:nvPr/>
        </p:nvSpPr>
        <p:spPr>
          <a:xfrm>
            <a:off x="0" y="5323680"/>
            <a:ext cx="433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2a6099"/>
                </a:solidFill>
                <a:latin typeface="Arial"/>
                <a:ea typeface="Microsoft YaHei"/>
              </a:rPr>
              <a:t>13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92640" y="631080"/>
            <a:ext cx="5311800" cy="107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2a6099"/>
                </a:solidFill>
                <a:latin typeface="Arial"/>
                <a:ea typeface="Microsoft YaHei"/>
              </a:rPr>
              <a:t>Алтайский государственный технический университет им. И.И. Ползунова Университетский технологический колледж</a:t>
            </a:r>
            <a:br>
              <a:rPr sz="1800"/>
            </a:b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rcRect l="21268" t="0" r="0" b="0"/>
          <a:stretch/>
        </p:blipFill>
        <p:spPr>
          <a:xfrm>
            <a:off x="6746040" y="10440"/>
            <a:ext cx="3333600" cy="5669280"/>
          </a:xfrm>
          <a:prstGeom prst="rect">
            <a:avLst/>
          </a:prstGeom>
          <a:ln w="0">
            <a:noFill/>
          </a:ln>
        </p:spPr>
      </p:pic>
      <p:sp>
        <p:nvSpPr>
          <p:cNvPr id="141" name="PlaceHolder 2"/>
          <p:cNvSpPr>
            <a:spLocks noGrp="1"/>
          </p:cNvSpPr>
          <p:nvPr>
            <p:ph type="title"/>
          </p:nvPr>
        </p:nvSpPr>
        <p:spPr>
          <a:xfrm>
            <a:off x="692640" y="2084040"/>
            <a:ext cx="5311800" cy="100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000" spc="-1" strike="noStrike">
                <a:solidFill>
                  <a:srgbClr val="2a6099"/>
                </a:solidFill>
                <a:latin typeface="Arial"/>
                <a:ea typeface="Microsoft YaHei"/>
              </a:rPr>
              <a:t>Кафедра «Информационные системы в экономике»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title"/>
          </p:nvPr>
        </p:nvSpPr>
        <p:spPr>
          <a:xfrm>
            <a:off x="741240" y="2915640"/>
            <a:ext cx="53118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1400" spc="-1" strike="noStrike">
                <a:solidFill>
                  <a:srgbClr val="2a6099"/>
                </a:solidFill>
                <a:latin typeface="Arial"/>
                <a:ea typeface="Microsoft YaHei"/>
              </a:rPr>
              <a:t>Разработка веб-сайта для медицинской организации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title"/>
          </p:nvPr>
        </p:nvSpPr>
        <p:spPr>
          <a:xfrm>
            <a:off x="692640" y="2084040"/>
            <a:ext cx="5311800" cy="100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2000" spc="-1" strike="noStrike">
                <a:solidFill>
                  <a:srgbClr val="2a6099"/>
                </a:solidFill>
                <a:latin typeface="Arial"/>
                <a:ea typeface="Microsoft YaHei"/>
              </a:rPr>
              <a:t>Кафедра «Информационные системы в экономике»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title"/>
          </p:nvPr>
        </p:nvSpPr>
        <p:spPr>
          <a:xfrm>
            <a:off x="1020600" y="3726360"/>
            <a:ext cx="50324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1000" spc="-1" strike="noStrike">
                <a:solidFill>
                  <a:srgbClr val="2a6099"/>
                </a:solidFill>
                <a:latin typeface="Arial"/>
                <a:ea typeface="Microsoft YaHei"/>
              </a:rPr>
              <a:t>Выполнил                          Студент группы 1ИСП-21 Бобрышев Петр Денисович</a:t>
            </a:r>
            <a:endParaRPr b="0" lang="en-US" sz="10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5" name="PlaceHolder 6"/>
          <p:cNvSpPr>
            <a:spLocks noGrp="1"/>
          </p:cNvSpPr>
          <p:nvPr>
            <p:ph type="title"/>
          </p:nvPr>
        </p:nvSpPr>
        <p:spPr>
          <a:xfrm>
            <a:off x="1020600" y="4561560"/>
            <a:ext cx="52070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1000" spc="-1" strike="noStrike">
                <a:solidFill>
                  <a:srgbClr val="2a6099"/>
                </a:solidFill>
                <a:latin typeface="Arial"/>
                <a:ea typeface="Microsoft YaHei"/>
              </a:rPr>
              <a:t>Руководитель:                  Пр. каф. ИСЭ Воробьев Константин Владимирович                                                       </a:t>
            </a:r>
            <a:endParaRPr b="0" lang="en-US" sz="10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Обычный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Обычный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Обычный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Обычный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Обычный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Обычный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Обычный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Обычный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Обычный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Обычный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Обычный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</TotalTime>
  <Application>LibreOffice/24.2.1.2$Windows_X86_64 LibreOffice_project/db4def46b0453cc22e2d0305797cf981b68ef5ac</Application>
  <AppVersion>15.0000</AppVersion>
  <Words>662</Words>
  <Paragraphs>77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2026-05-16T20:03:00Z</dcterms:created>
  <dc:creator/>
  <dc:description/>
  <dc:language>ru-RU</dc:language>
  <cp:lastModifiedBy/>
  <dcterms:modified xsi:type="dcterms:W3CDTF">2026-05-27T18:43:06Z</dcterms:modified>
  <cp:revision>40</cp:revision>
  <dc:subject/>
  <dc:title>Алтайский государственный технический университет им. И.И. Ползунова Университетский технологический колледж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Widescreen</vt:lpwstr>
  </property>
  <property fmtid="{D5CDD505-2E9C-101B-9397-08002B2CF9AE}" pid="4" name="Slides">
    <vt:i4>14</vt:i4>
  </property>
</Properties>
</file>